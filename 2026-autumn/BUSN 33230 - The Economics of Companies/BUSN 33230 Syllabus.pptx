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330" r:id="rId2"/>
    <p:sldId id="341" r:id="rId3"/>
    <p:sldId id="292" r:id="rId4"/>
    <p:sldId id="289" r:id="rId5"/>
    <p:sldId id="290" r:id="rId6"/>
    <p:sldId id="334" r:id="rId7"/>
    <p:sldId id="293" r:id="rId8"/>
    <p:sldId id="294" r:id="rId9"/>
    <p:sldId id="351" r:id="rId10"/>
    <p:sldId id="296" r:id="rId11"/>
    <p:sldId id="352" r:id="rId12"/>
    <p:sldId id="336" r:id="rId13"/>
  </p:sldIdLst>
  <p:sldSz cx="9144000" cy="6858000" type="screen4x3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00F"/>
    <a:srgbClr val="2E2D5D"/>
    <a:srgbClr val="3433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8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260" y="-8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E02BD44B-EE3A-42FF-ABA5-13E7D90600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38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0325" cy="3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68F8CCB3-6DA9-4805-BF9A-8CD245824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32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B66A05-DCF2-4531-A2F3-FD1F41BB705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31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9E4D9D-1755-4ED2-BD3A-0220F34A87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17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5F29C3-5FAB-40AF-A2F4-FADAE5038B7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17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867722-7842-4C83-B0AF-C7F5C54A02B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07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269058-C1DD-4236-9190-B9662E71434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45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30406C-4814-4406-92F4-CD3D311A506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1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952CCE-9085-4FFF-B162-55DDEF0036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75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952CCE-9085-4FFF-B162-55DDEF0036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36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60D75-6EA9-4F2B-9A0D-424C1433B9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04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60D75-6EA9-4F2B-9A0D-424C1433B9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41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BACD5F-E719-4A38-8197-38CB4DE84B8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9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t="13333" r="1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657600" y="457200"/>
            <a:ext cx="4724400" cy="2895600"/>
          </a:xfrm>
        </p:spPr>
        <p:txBody>
          <a:bodyPr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657600" y="4038600"/>
            <a:ext cx="4724400" cy="1828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3796E-3F68-4DD2-B467-65601BA71B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0C858-5F57-46B4-B89C-99FDC522F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64A8B-FC0A-4E87-8BD6-B66FB335C6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295400"/>
            <a:ext cx="3657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3657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DFA43-92F4-4E75-9972-07F85BF158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F0DFD7-DD78-4618-B01A-BBCE8C04F6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1A6DD-45A9-477D-8D5D-E9FAFFF950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178C1-7E7A-4609-AF16-995EDBB67D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C5CC71-383D-43A9-8A0C-CF32F1E9D2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A42FB-0329-49C9-98EA-261DCAAFF2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ED5B0-AE09-4768-BAEA-E016D43DB9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955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341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A1719-2C7A-494D-B463-1A373D5F13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 cstate="print"/>
          <a:srcRect l="17497" t="13333" r="17"/>
          <a:stretch>
            <a:fillRect/>
          </a:stretch>
        </p:blipFill>
        <p:spPr bwMode="auto">
          <a:xfrm>
            <a:off x="0" y="0"/>
            <a:ext cx="7543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295400"/>
            <a:ext cx="7467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3200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245225"/>
            <a:ext cx="2362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Geneva" charset="0"/>
              </a:defRPr>
            </a:lvl1pPr>
          </a:lstStyle>
          <a:p>
            <a:pPr>
              <a:defRPr/>
            </a:pPr>
            <a:fld id="{66FF8969-4318-4EBD-AB86-F01426F186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camille.fredrickson@chicagobooth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telloga@chicagobooth.edu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5266FFB-FDFA-426A-848B-C6D1DB3960B6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33230: The Economics of Companies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886200"/>
            <a:ext cx="7315200" cy="2362200"/>
          </a:xfrm>
        </p:spPr>
        <p:txBody>
          <a:bodyPr/>
          <a:lstStyle/>
          <a:p>
            <a:pPr eaLnBrk="1" hangingPunct="1"/>
            <a:r>
              <a:rPr lang="en-US" b="1" dirty="0"/>
              <a:t>Chad Syverson</a:t>
            </a:r>
          </a:p>
          <a:p>
            <a:pPr eaLnBrk="1" hangingPunct="1"/>
            <a:r>
              <a:rPr lang="en-US" sz="2000" dirty="0"/>
              <a:t>George C. </a:t>
            </a:r>
            <a:r>
              <a:rPr lang="en-US" sz="2000" dirty="0" err="1"/>
              <a:t>Tiao</a:t>
            </a:r>
            <a:r>
              <a:rPr lang="en-US" sz="2000" dirty="0"/>
              <a:t> Distinguished Service Professor of Economics</a:t>
            </a:r>
          </a:p>
          <a:p>
            <a:pPr eaLnBrk="1" hangingPunct="1"/>
            <a:r>
              <a:rPr lang="en-US" sz="2000" dirty="0"/>
              <a:t>chad.syverson@chicagobooth.edu</a:t>
            </a:r>
          </a:p>
          <a:p>
            <a:pPr eaLnBrk="1" hangingPunct="1"/>
            <a:r>
              <a:rPr lang="en-US" sz="2000" dirty="0"/>
              <a:t>773-702-7815</a:t>
            </a:r>
          </a:p>
          <a:p>
            <a:pPr eaLnBrk="1" hangingPunct="1"/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Syllabus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Please review syllabus carefully</a:t>
            </a: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9A7386-31A3-48BF-B535-29D626D233DB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32733C-9D51-460F-BEDE-090444E5D5B5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 &amp; Office Hours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TAs for this quarter</a:t>
            </a:r>
          </a:p>
          <a:p>
            <a:pPr marL="0" indent="0">
              <a:buNone/>
            </a:pPr>
            <a:r>
              <a:rPr lang="en-US" sz="1600" dirty="0"/>
              <a:t>42001-01 (Day): Camille Fredrickson (</a:t>
            </a:r>
            <a:r>
              <a:rPr lang="en-US" sz="1600" u="sng" dirty="0">
                <a:hlinkClick r:id="rId3"/>
              </a:rPr>
              <a:t>camille.fredrickson@chicagobooth.edu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42001-81 (Evening): Jorge Tello Garza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6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jtelloga@chicagobooth.edu</a:t>
            </a:r>
            <a:r>
              <a:rPr lang="en-US" sz="1600" dirty="0"/>
              <a:t>)</a:t>
            </a:r>
          </a:p>
          <a:p>
            <a:endParaRPr lang="en-US" dirty="0"/>
          </a:p>
          <a:p>
            <a:pPr eaLnBrk="1" hangingPunct="1"/>
            <a:r>
              <a:rPr lang="en-US" dirty="0"/>
              <a:t>Please direct logistical/administrative questions to your assigned TA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TAs are an excellent resource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 am available by phone, e-mail, or appointment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6ACF0E-2095-4C33-B285-6D118FA1CB62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Readings and Website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REQUIRED:</a:t>
            </a:r>
          </a:p>
          <a:p>
            <a:pPr lvl="1" eaLnBrk="1" hangingPunct="1"/>
            <a:r>
              <a:rPr lang="en-US" dirty="0"/>
              <a:t>Articles distributed via Canvas</a:t>
            </a:r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/>
              <a:t>OPTIONAL:</a:t>
            </a:r>
          </a:p>
          <a:p>
            <a:pPr lvl="1" eaLnBrk="1" hangingPunct="1"/>
            <a:r>
              <a:rPr lang="en-US" dirty="0"/>
              <a:t>Cabral, </a:t>
            </a:r>
            <a:r>
              <a:rPr lang="en-US" dirty="0" err="1"/>
              <a:t>Luís</a:t>
            </a:r>
            <a:r>
              <a:rPr lang="en-US" dirty="0"/>
              <a:t> (2017). </a:t>
            </a:r>
            <a:r>
              <a:rPr lang="en-US" i="1" dirty="0"/>
              <a:t>Introduction to Industrial Organization, 2</a:t>
            </a:r>
            <a:r>
              <a:rPr lang="en-US" i="1" baseline="30000" dirty="0"/>
              <a:t>nd</a:t>
            </a:r>
            <a:r>
              <a:rPr lang="en-US" i="1" dirty="0"/>
              <a:t> Ed</a:t>
            </a:r>
            <a:r>
              <a:rPr lang="en-US" dirty="0"/>
              <a:t>. MIT Press</a:t>
            </a:r>
          </a:p>
          <a:p>
            <a:pPr lvl="2" eaLnBrk="1" hangingPunct="1"/>
            <a:r>
              <a:rPr lang="en-US" dirty="0"/>
              <a:t>We won’t “follow the book,” but this text discusses many of the class’s core economics concepts</a:t>
            </a:r>
          </a:p>
          <a:p>
            <a:pPr lvl="1" eaLnBrk="1" hangingPunct="1"/>
            <a:r>
              <a:rPr lang="en-US" dirty="0"/>
              <a:t>Goolsbee, Levitt, and Syverson (2024) </a:t>
            </a:r>
            <a:r>
              <a:rPr lang="en-US" i="1" dirty="0"/>
              <a:t>Microeconomics</a:t>
            </a:r>
            <a:r>
              <a:rPr lang="en-US" i="1"/>
              <a:t>, 4</a:t>
            </a:r>
            <a:r>
              <a:rPr lang="en-US" i="1" baseline="30000"/>
              <a:t>th</a:t>
            </a:r>
            <a:r>
              <a:rPr lang="en-US" i="1"/>
              <a:t> Ed</a:t>
            </a:r>
            <a:r>
              <a:rPr lang="en-US" i="1" dirty="0"/>
              <a:t>.</a:t>
            </a:r>
            <a:r>
              <a:rPr lang="en-US" dirty="0"/>
              <a:t> Worth Publishers</a:t>
            </a:r>
          </a:p>
          <a:p>
            <a:pPr lvl="2" eaLnBrk="1" hangingPunct="1"/>
            <a:r>
              <a:rPr lang="en-US" dirty="0"/>
              <a:t>(Or any good intermediate micro book) for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8B1B03-5698-4D2C-91F7-38A02D6D9986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Preparing for Class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You need to prepare to discuss readings</a:t>
            </a:r>
          </a:p>
          <a:p>
            <a:pPr eaLnBrk="1" hangingPunct="1">
              <a:defRPr/>
            </a:pPr>
            <a:r>
              <a:rPr lang="en-US" dirty="0"/>
              <a:t>Readings and reading guides for a class will be posted online one or more weeks prior to class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D84B08-ADF3-4154-98D3-A02388E16CFE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Technology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NO LAPTOPS OR TABLETS ARE ALLOWED DURING LECTURES, EXCEPT AT MY DISCRETION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Use of AI tools allowed only when I give advance permission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64E1CD-4B98-4574-8011-7FBC07177253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Requirements and Grading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Participation (15%)</a:t>
            </a:r>
          </a:p>
          <a:p>
            <a:pPr eaLnBrk="1" hangingPunct="1"/>
            <a:r>
              <a:rPr lang="en-US" dirty="0"/>
              <a:t>Problem sets (15%)</a:t>
            </a:r>
          </a:p>
          <a:p>
            <a:pPr eaLnBrk="1" hangingPunct="1"/>
            <a:r>
              <a:rPr lang="en-US" dirty="0"/>
              <a:t>Midterm (30%)</a:t>
            </a:r>
          </a:p>
          <a:p>
            <a:pPr eaLnBrk="1" hangingPunct="1"/>
            <a:r>
              <a:rPr lang="en-US" dirty="0"/>
              <a:t>Final project/presentation (40%)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2EA9EF-1FED-4BC1-8DB5-C3E1E895C413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Participation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Come prepared to discuss any readings</a:t>
            </a:r>
          </a:p>
          <a:p>
            <a:pPr eaLnBrk="1" hangingPunct="1"/>
            <a:r>
              <a:rPr lang="en-US" dirty="0"/>
              <a:t>Graded not just on quantity, but also quality</a:t>
            </a:r>
          </a:p>
          <a:p>
            <a:pPr eaLnBrk="1" hangingPunct="1"/>
            <a:r>
              <a:rPr lang="en-US" dirty="0"/>
              <a:t>Always better to have arguments backed up by </a:t>
            </a:r>
            <a:r>
              <a:rPr lang="en-US" i="1" dirty="0"/>
              <a:t>evidence</a:t>
            </a:r>
            <a:endParaRPr lang="en-US" dirty="0"/>
          </a:p>
          <a:p>
            <a:pPr eaLnBrk="1" hangingPunct="1"/>
            <a:r>
              <a:rPr lang="en-US" dirty="0"/>
              <a:t>Note that you are responsible not only for what I say, but for what your peers say as well</a:t>
            </a:r>
          </a:p>
          <a:p>
            <a:pPr eaLnBrk="1" hangingPunct="1"/>
            <a:r>
              <a:rPr lang="en-US" b="1" dirty="0"/>
              <a:t>Participation helps the class work</a:t>
            </a:r>
          </a:p>
          <a:p>
            <a:pPr eaLnBrk="1" hangingPunct="1"/>
            <a:r>
              <a:rPr lang="en-US" dirty="0"/>
              <a:t>Students will be called upon randomly to open portions of discussion or offer views on particular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2EA9EF-1FED-4BC1-8DB5-C3E1E895C413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Sets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Distributed at least a week prior to due date</a:t>
            </a:r>
          </a:p>
          <a:p>
            <a:pPr eaLnBrk="1" hangingPunct="1"/>
            <a:r>
              <a:rPr lang="en-US" dirty="0"/>
              <a:t>Purpose is to both teach concepts and practice using them</a:t>
            </a:r>
          </a:p>
          <a:p>
            <a:pPr eaLnBrk="1" hangingPunct="1"/>
            <a:r>
              <a:rPr lang="en-US" dirty="0"/>
              <a:t>Show your work</a:t>
            </a:r>
          </a:p>
          <a:p>
            <a:pPr eaLnBrk="1" hangingPunct="1">
              <a:defRPr/>
            </a:pPr>
            <a:r>
              <a:rPr lang="en-US" dirty="0"/>
              <a:t>I allow homework groups consisting of at most </a:t>
            </a:r>
            <a:r>
              <a:rPr lang="en-US" b="1" dirty="0"/>
              <a:t>three</a:t>
            </a:r>
            <a:r>
              <a:rPr lang="en-US" dirty="0"/>
              <a:t> students to turn in one set of answers</a:t>
            </a:r>
          </a:p>
          <a:p>
            <a:pPr eaLnBrk="1" hangingPunct="1">
              <a:defRPr/>
            </a:pPr>
            <a:r>
              <a:rPr lang="en-US" dirty="0"/>
              <a:t>Check plus, check, check minus grading</a:t>
            </a:r>
          </a:p>
          <a:p>
            <a:pPr eaLnBrk="1" hangingPunct="1">
              <a:defRPr/>
            </a:pPr>
            <a:r>
              <a:rPr lang="en-US" dirty="0"/>
              <a:t>If responses are not submitted by time due, recorded grade will be zero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6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BC62CC-14A2-4835-BF85-B3FAD708733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Midterm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Problems and short-answer questions</a:t>
            </a:r>
          </a:p>
          <a:p>
            <a:pPr eaLnBrk="1" hangingPunct="1"/>
            <a:r>
              <a:rPr lang="en-US" b="1" dirty="0"/>
              <a:t>Students will take exam during scheduled time</a:t>
            </a:r>
          </a:p>
          <a:p>
            <a:pPr lvl="1" eaLnBrk="1" hangingPunct="1"/>
            <a:r>
              <a:rPr lang="en-US" b="1" dirty="0"/>
              <a:t>All options need to be exhausted before exceptions are considered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DBC62CC-14A2-4835-BF85-B3FAD7087336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Groups will construct a presentation and present it at the end of the quarter</a:t>
            </a:r>
          </a:p>
          <a:p>
            <a:pPr eaLnBrk="1" hangingPunct="1"/>
            <a:r>
              <a:rPr lang="en-US" dirty="0"/>
              <a:t>I will assign you to groups</a:t>
            </a:r>
          </a:p>
          <a:p>
            <a:pPr eaLnBrk="1" hangingPunct="1"/>
            <a:r>
              <a:rPr lang="en-US" dirty="0"/>
              <a:t>Presentation will highlight and explain how some concept, phenomenon, or theory presented in class applies in a particular market or industry</a:t>
            </a:r>
          </a:p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477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5970CE-0AA7-4A92-9F39-3AEED96DA773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Honor code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As a reminder…</a:t>
            </a:r>
          </a:p>
          <a:p>
            <a:pPr eaLnBrk="1" hangingPunct="1"/>
            <a:r>
              <a:rPr lang="en-US" dirty="0"/>
              <a:t>Do not discuss cases or assignments </a:t>
            </a:r>
            <a:r>
              <a:rPr lang="en-US"/>
              <a:t>before class with </a:t>
            </a:r>
            <a:r>
              <a:rPr lang="en-US" dirty="0"/>
              <a:t>anyone outside your homework group</a:t>
            </a:r>
          </a:p>
          <a:p>
            <a:pPr eaLnBrk="1" hangingPunct="1"/>
            <a:r>
              <a:rPr lang="en-US" dirty="0"/>
              <a:t>Do not solicit or receive materials from students who have taken the class previously</a:t>
            </a:r>
          </a:p>
          <a:p>
            <a:pPr eaLnBrk="1" hangingPunct="1"/>
            <a:r>
              <a:rPr lang="en-US" dirty="0"/>
              <a:t>Do not discuss exam cases with anyone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aching Template">
  <a:themeElements>
    <a:clrScheme name="">
      <a:dk1>
        <a:srgbClr val="000000"/>
      </a:dk1>
      <a:lt1>
        <a:srgbClr val="FFFFFF"/>
      </a:lt1>
      <a:dk2>
        <a:srgbClr val="424087"/>
      </a:dk2>
      <a:lt2>
        <a:srgbClr val="969696"/>
      </a:lt2>
      <a:accent1>
        <a:srgbClr val="969696"/>
      </a:accent1>
      <a:accent2>
        <a:srgbClr val="666699"/>
      </a:accent2>
      <a:accent3>
        <a:srgbClr val="FFFFFF"/>
      </a:accent3>
      <a:accent4>
        <a:srgbClr val="000000"/>
      </a:accent4>
      <a:accent5>
        <a:srgbClr val="C9C9C9"/>
      </a:accent5>
      <a:accent6>
        <a:srgbClr val="5C5C8A"/>
      </a:accent6>
      <a:hlink>
        <a:srgbClr val="820009"/>
      </a:hlink>
      <a:folHlink>
        <a:srgbClr val="5F5F5F"/>
      </a:folHlink>
    </a:clrScheme>
    <a:fontScheme name="1_Teaching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Teaching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aching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aching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aching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aching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Teaching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Teaching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Teaching Template</Template>
  <TotalTime>10501</TotalTime>
  <Words>499</Words>
  <Application>Microsoft Office PowerPoint</Application>
  <PresentationFormat>On-screen Show (4:3)</PresentationFormat>
  <Paragraphs>88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Geneva</vt:lpstr>
      <vt:lpstr>Times New Roman</vt:lpstr>
      <vt:lpstr>1_Teaching Template</vt:lpstr>
      <vt:lpstr>33230: The Economics of Companies</vt:lpstr>
      <vt:lpstr>Syllabus</vt:lpstr>
      <vt:lpstr>TA &amp; Office Hours</vt:lpstr>
      <vt:lpstr>Readings and Website</vt:lpstr>
      <vt:lpstr>Preparing for Class</vt:lpstr>
      <vt:lpstr>Technology</vt:lpstr>
      <vt:lpstr>Requirements and Grading</vt:lpstr>
      <vt:lpstr>Participation</vt:lpstr>
      <vt:lpstr>Problem Sets</vt:lpstr>
      <vt:lpstr>Midterm</vt:lpstr>
      <vt:lpstr>Final</vt:lpstr>
      <vt:lpstr>Honor code</vt:lpstr>
    </vt:vector>
  </TitlesOfParts>
  <Company>University of Chicago GSB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52001: Competitive Strategy</dc:title>
  <dc:creator>Matthew Gentzkow</dc:creator>
  <cp:lastModifiedBy>Syverson, Chad</cp:lastModifiedBy>
  <cp:revision>191</cp:revision>
  <dcterms:created xsi:type="dcterms:W3CDTF">2004-11-18T20:56:25Z</dcterms:created>
  <dcterms:modified xsi:type="dcterms:W3CDTF">2026-09-17T18:12:47Z</dcterms:modified>
</cp:coreProperties>
</file>